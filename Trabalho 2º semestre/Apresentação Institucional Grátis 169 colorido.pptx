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Balgin" panose="020B0604020202020204" charset="0"/>
      <p:regular r:id="rId17"/>
    </p:embeddedFont>
    <p:embeddedFont>
      <p:font typeface="Moontime" panose="020B0604020202020204" charset="0"/>
      <p:regular r:id="rId18"/>
    </p:embeddedFont>
    <p:embeddedFont>
      <p:font typeface="Open Sans" panose="020B0606030504020204" pitchFamily="34" charset="0"/>
      <p:regular r:id="rId19"/>
    </p:embeddedFont>
    <p:embeddedFont>
      <p:font typeface="Questrial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69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6.svg"/><Relationship Id="rId7" Type="http://schemas.openxmlformats.org/officeDocument/2006/relationships/image" Target="../media/image1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12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svg"/><Relationship Id="rId7" Type="http://schemas.openxmlformats.org/officeDocument/2006/relationships/image" Target="../media/image3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10603" flipV="1">
            <a:off x="13944206" y="4754673"/>
            <a:ext cx="5779143" cy="7659105"/>
          </a:xfrm>
          <a:custGeom>
            <a:avLst/>
            <a:gdLst/>
            <a:ahLst/>
            <a:cxnLst/>
            <a:rect l="l" t="t" r="r" b="b"/>
            <a:pathLst>
              <a:path w="5779143" h="7659105">
                <a:moveTo>
                  <a:pt x="0" y="7659105"/>
                </a:moveTo>
                <a:lnTo>
                  <a:pt x="5779143" y="7659105"/>
                </a:lnTo>
                <a:lnTo>
                  <a:pt x="5779143" y="0"/>
                </a:lnTo>
                <a:lnTo>
                  <a:pt x="0" y="0"/>
                </a:lnTo>
                <a:lnTo>
                  <a:pt x="0" y="76591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59014" flipV="1">
            <a:off x="-1608015" y="-2626550"/>
            <a:ext cx="5779143" cy="7659105"/>
          </a:xfrm>
          <a:custGeom>
            <a:avLst/>
            <a:gdLst/>
            <a:ahLst/>
            <a:cxnLst/>
            <a:rect l="l" t="t" r="r" b="b"/>
            <a:pathLst>
              <a:path w="5779143" h="7659105">
                <a:moveTo>
                  <a:pt x="0" y="7659105"/>
                </a:moveTo>
                <a:lnTo>
                  <a:pt x="5779142" y="7659105"/>
                </a:lnTo>
                <a:lnTo>
                  <a:pt x="5779142" y="0"/>
                </a:lnTo>
                <a:lnTo>
                  <a:pt x="0" y="0"/>
                </a:lnTo>
                <a:lnTo>
                  <a:pt x="0" y="76591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44150" y="4535138"/>
            <a:ext cx="13399700" cy="221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5"/>
              </a:lnSpc>
            </a:pPr>
            <a:r>
              <a:rPr lang="en-US" sz="9328" spc="923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PROPOSTA COMERCIAL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600950" y="1958492"/>
            <a:ext cx="3086100" cy="1452231"/>
            <a:chOff x="0" y="0"/>
            <a:chExt cx="812800" cy="3824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382481"/>
            </a:xfrm>
            <a:custGeom>
              <a:avLst/>
              <a:gdLst/>
              <a:ahLst/>
              <a:cxnLst/>
              <a:rect l="l" t="t" r="r" b="b"/>
              <a:pathLst>
                <a:path w="812800" h="382481">
                  <a:moveTo>
                    <a:pt x="80277" y="0"/>
                  </a:moveTo>
                  <a:lnTo>
                    <a:pt x="732523" y="0"/>
                  </a:lnTo>
                  <a:cubicBezTo>
                    <a:pt x="753814" y="0"/>
                    <a:pt x="774233" y="8458"/>
                    <a:pt x="789288" y="23512"/>
                  </a:cubicBezTo>
                  <a:cubicBezTo>
                    <a:pt x="804342" y="38567"/>
                    <a:pt x="812800" y="58986"/>
                    <a:pt x="812800" y="80277"/>
                  </a:cubicBezTo>
                  <a:lnTo>
                    <a:pt x="812800" y="302204"/>
                  </a:lnTo>
                  <a:cubicBezTo>
                    <a:pt x="812800" y="323495"/>
                    <a:pt x="804342" y="343913"/>
                    <a:pt x="789288" y="358968"/>
                  </a:cubicBezTo>
                  <a:cubicBezTo>
                    <a:pt x="774233" y="374023"/>
                    <a:pt x="753814" y="382481"/>
                    <a:pt x="732523" y="382481"/>
                  </a:cubicBezTo>
                  <a:lnTo>
                    <a:pt x="80277" y="382481"/>
                  </a:lnTo>
                  <a:cubicBezTo>
                    <a:pt x="58986" y="382481"/>
                    <a:pt x="38567" y="374023"/>
                    <a:pt x="23512" y="358968"/>
                  </a:cubicBezTo>
                  <a:cubicBezTo>
                    <a:pt x="8458" y="343913"/>
                    <a:pt x="0" y="323495"/>
                    <a:pt x="0" y="302204"/>
                  </a:cubicBezTo>
                  <a:lnTo>
                    <a:pt x="0" y="80277"/>
                  </a:lnTo>
                  <a:cubicBezTo>
                    <a:pt x="0" y="58986"/>
                    <a:pt x="8458" y="38567"/>
                    <a:pt x="23512" y="23512"/>
                  </a:cubicBezTo>
                  <a:cubicBezTo>
                    <a:pt x="38567" y="8458"/>
                    <a:pt x="58986" y="0"/>
                    <a:pt x="802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812800" cy="468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20"/>
                </a:lnSpc>
              </a:pPr>
              <a:r>
                <a:rPr lang="en-US" sz="3800">
                  <a:solidFill>
                    <a:srgbClr val="FFFFFF"/>
                  </a:solidFill>
                  <a:latin typeface="Questrial"/>
                  <a:ea typeface="Questrial"/>
                  <a:cs typeface="Questrial"/>
                  <a:sym typeface="Questrial"/>
                </a:rPr>
                <a:t>PixelTech.Co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444150" y="6962131"/>
            <a:ext cx="13399700" cy="381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3000" spc="297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Apresentação de projeto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76947">
            <a:off x="14313479" y="-4031416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353738">
            <a:off x="-5230864" y="2497610"/>
            <a:ext cx="10461728" cy="10836065"/>
          </a:xfrm>
          <a:custGeom>
            <a:avLst/>
            <a:gdLst/>
            <a:ahLst/>
            <a:cxnLst/>
            <a:rect l="l" t="t" r="r" b="b"/>
            <a:pathLst>
              <a:path w="10461728" h="10836065">
                <a:moveTo>
                  <a:pt x="0" y="0"/>
                </a:moveTo>
                <a:lnTo>
                  <a:pt x="10461728" y="0"/>
                </a:lnTo>
                <a:lnTo>
                  <a:pt x="10461728" y="10836065"/>
                </a:lnTo>
                <a:lnTo>
                  <a:pt x="0" y="10836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848744" y="5150911"/>
            <a:ext cx="21985488" cy="10089413"/>
            <a:chOff x="-161290" y="232410"/>
            <a:chExt cx="12611100" cy="578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11100" cy="5787390"/>
            </a:xfrm>
            <a:custGeom>
              <a:avLst/>
              <a:gdLst/>
              <a:ahLst/>
              <a:cxnLst/>
              <a:rect l="l" t="t" r="r" b="b"/>
              <a:pathLst>
                <a:path w="12611100" h="5787390">
                  <a:moveTo>
                    <a:pt x="12551410" y="2688590"/>
                  </a:moveTo>
                  <a:cubicBezTo>
                    <a:pt x="12498070" y="2100580"/>
                    <a:pt x="12113260" y="1581150"/>
                    <a:pt x="11629389" y="1242060"/>
                  </a:cubicBezTo>
                  <a:cubicBezTo>
                    <a:pt x="11145520" y="902970"/>
                    <a:pt x="10571480" y="721360"/>
                    <a:pt x="9999980" y="575310"/>
                  </a:cubicBezTo>
                  <a:cubicBezTo>
                    <a:pt x="8357870" y="157480"/>
                    <a:pt x="6649720" y="0"/>
                    <a:pt x="4958080" y="110490"/>
                  </a:cubicBezTo>
                  <a:cubicBezTo>
                    <a:pt x="3895090" y="123190"/>
                    <a:pt x="3690620" y="267970"/>
                    <a:pt x="2651760" y="491490"/>
                  </a:cubicBezTo>
                  <a:cubicBezTo>
                    <a:pt x="2020570" y="626110"/>
                    <a:pt x="1366520" y="817880"/>
                    <a:pt x="916939" y="1280160"/>
                  </a:cubicBezTo>
                  <a:cubicBezTo>
                    <a:pt x="0" y="2223770"/>
                    <a:pt x="400050" y="3919220"/>
                    <a:pt x="1418589" y="4751070"/>
                  </a:cubicBezTo>
                  <a:cubicBezTo>
                    <a:pt x="2437130" y="5582920"/>
                    <a:pt x="3836669" y="5750560"/>
                    <a:pt x="5152389" y="5767070"/>
                  </a:cubicBezTo>
                  <a:cubicBezTo>
                    <a:pt x="6744970" y="5787390"/>
                    <a:pt x="8346439" y="5632450"/>
                    <a:pt x="9888220" y="5229860"/>
                  </a:cubicBezTo>
                  <a:cubicBezTo>
                    <a:pt x="10535920" y="5060950"/>
                    <a:pt x="11187430" y="4839970"/>
                    <a:pt x="11710670" y="4423410"/>
                  </a:cubicBezTo>
                  <a:cubicBezTo>
                    <a:pt x="12232639" y="4005580"/>
                    <a:pt x="12611099" y="3355340"/>
                    <a:pt x="12551409" y="2688590"/>
                  </a:cubicBezTo>
                  <a:close/>
                </a:path>
              </a:pathLst>
            </a:custGeom>
            <a:blipFill>
              <a:blip r:embed="rId4"/>
              <a:stretch>
                <a:fillRect t="-16" b="-4196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284359" y="1394848"/>
            <a:ext cx="7719281" cy="794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6"/>
              </a:lnSpc>
            </a:pPr>
            <a:r>
              <a:rPr lang="en-US" sz="5200" spc="51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QUEM SOMOS?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29702" y="2484128"/>
            <a:ext cx="12428597" cy="1758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PixelTech é uma empresa independente com foco em aumentar a segurança da população brasileira com equipamentos de segurança de última geração, equipes qualificadas e orçamentos acessíveis. Fundada no ano de 2018 em São Paulo, Capital, a PixelTech resolveu mais de 20 ocorrências em condomínios com sua excelência e profissionalismo, e agora contendo mais de 100 unidade em todo país está em um grande expansão agora na era digital.</a:t>
            </a:r>
          </a:p>
        </p:txBody>
      </p:sp>
      <p:sp>
        <p:nvSpPr>
          <p:cNvPr id="8" name="AutoShape 8"/>
          <p:cNvSpPr/>
          <p:nvPr/>
        </p:nvSpPr>
        <p:spPr>
          <a:xfrm>
            <a:off x="7285549" y="2189107"/>
            <a:ext cx="3716901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776947">
            <a:off x="14313479" y="-4031416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353738">
            <a:off x="-5230864" y="2497610"/>
            <a:ext cx="10461728" cy="10836065"/>
          </a:xfrm>
          <a:custGeom>
            <a:avLst/>
            <a:gdLst/>
            <a:ahLst/>
            <a:cxnLst/>
            <a:rect l="l" t="t" r="r" b="b"/>
            <a:pathLst>
              <a:path w="10461728" h="10836065">
                <a:moveTo>
                  <a:pt x="0" y="0"/>
                </a:moveTo>
                <a:lnTo>
                  <a:pt x="10461728" y="0"/>
                </a:lnTo>
                <a:lnTo>
                  <a:pt x="10461728" y="10836065"/>
                </a:lnTo>
                <a:lnTo>
                  <a:pt x="0" y="10836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848744" y="5150911"/>
            <a:ext cx="21985488" cy="10089413"/>
            <a:chOff x="-161290" y="232410"/>
            <a:chExt cx="12611100" cy="57873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611100" cy="5787390"/>
            </a:xfrm>
            <a:custGeom>
              <a:avLst/>
              <a:gdLst/>
              <a:ahLst/>
              <a:cxnLst/>
              <a:rect l="l" t="t" r="r" b="b"/>
              <a:pathLst>
                <a:path w="12611100" h="5787390">
                  <a:moveTo>
                    <a:pt x="12551410" y="2688590"/>
                  </a:moveTo>
                  <a:cubicBezTo>
                    <a:pt x="12498070" y="2100580"/>
                    <a:pt x="12113260" y="1581150"/>
                    <a:pt x="11629389" y="1242060"/>
                  </a:cubicBezTo>
                  <a:cubicBezTo>
                    <a:pt x="11145520" y="902970"/>
                    <a:pt x="10571480" y="721360"/>
                    <a:pt x="9999980" y="575310"/>
                  </a:cubicBezTo>
                  <a:cubicBezTo>
                    <a:pt x="8357870" y="157480"/>
                    <a:pt x="6649720" y="0"/>
                    <a:pt x="4958080" y="110490"/>
                  </a:cubicBezTo>
                  <a:cubicBezTo>
                    <a:pt x="3895090" y="123190"/>
                    <a:pt x="3690620" y="267970"/>
                    <a:pt x="2651760" y="491490"/>
                  </a:cubicBezTo>
                  <a:cubicBezTo>
                    <a:pt x="2020570" y="626110"/>
                    <a:pt x="1366520" y="817880"/>
                    <a:pt x="916939" y="1280160"/>
                  </a:cubicBezTo>
                  <a:cubicBezTo>
                    <a:pt x="0" y="2223770"/>
                    <a:pt x="400050" y="3919220"/>
                    <a:pt x="1418589" y="4751070"/>
                  </a:cubicBezTo>
                  <a:cubicBezTo>
                    <a:pt x="2437130" y="5582920"/>
                    <a:pt x="3836669" y="5750560"/>
                    <a:pt x="5152389" y="5767070"/>
                  </a:cubicBezTo>
                  <a:cubicBezTo>
                    <a:pt x="6744970" y="5787390"/>
                    <a:pt x="8346439" y="5632450"/>
                    <a:pt x="9888220" y="5229860"/>
                  </a:cubicBezTo>
                  <a:cubicBezTo>
                    <a:pt x="10535920" y="5060950"/>
                    <a:pt x="11187430" y="4839970"/>
                    <a:pt x="11710670" y="4423410"/>
                  </a:cubicBezTo>
                  <a:cubicBezTo>
                    <a:pt x="12232639" y="4005580"/>
                    <a:pt x="12611099" y="3355340"/>
                    <a:pt x="12551409" y="2688590"/>
                  </a:cubicBezTo>
                  <a:close/>
                </a:path>
              </a:pathLst>
            </a:custGeom>
            <a:blipFill>
              <a:blip r:embed="rId4"/>
              <a:stretch>
                <a:fillRect t="-16" b="-41965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524215" y="1613410"/>
            <a:ext cx="7236908" cy="62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9"/>
              </a:lnSpc>
            </a:pPr>
            <a:r>
              <a:rPr lang="en-US" sz="4160" spc="411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CAUSAS E PROBLEMAS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37895" y="2723836"/>
            <a:ext cx="12428597" cy="211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Muitos condomínios enfrentam problemas com sistemas de segurança mal instalados, defasados ou sem manutenção, o que compromete a proteção dos moradores e do patrimônio. A dificuldade em encontrar profissionais qualificados agrava ainda mais esse cenário, gerando falhas em câmeras, cercas elétricas e controles de acesso. Por isso, nosso site oferece soluções rápidas e eficientes em instalação e manutenção de equipamentos de segurança, garantindo mais tranquilidade e segurança para seu condomínio.</a:t>
            </a:r>
          </a:p>
          <a:p>
            <a:pPr algn="ctr">
              <a:lnSpc>
                <a:spcPts val="2800"/>
              </a:lnSpc>
            </a:pPr>
            <a:endParaRPr lang="en-US" sz="2000">
              <a:solidFill>
                <a:srgbClr val="494F56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354313" y="2260344"/>
            <a:ext cx="3576711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10603">
            <a:off x="15350608" y="-1614317"/>
            <a:ext cx="3817383" cy="5059183"/>
          </a:xfrm>
          <a:custGeom>
            <a:avLst/>
            <a:gdLst/>
            <a:ahLst/>
            <a:cxnLst/>
            <a:rect l="l" t="t" r="r" b="b"/>
            <a:pathLst>
              <a:path w="3817383" h="5059183">
                <a:moveTo>
                  <a:pt x="0" y="0"/>
                </a:moveTo>
                <a:lnTo>
                  <a:pt x="3817384" y="0"/>
                </a:lnTo>
                <a:lnTo>
                  <a:pt x="3817384" y="5059183"/>
                </a:lnTo>
                <a:lnTo>
                  <a:pt x="0" y="5059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241271">
            <a:off x="-1651755" y="6757385"/>
            <a:ext cx="5130494" cy="6799449"/>
          </a:xfrm>
          <a:custGeom>
            <a:avLst/>
            <a:gdLst/>
            <a:ahLst/>
            <a:cxnLst/>
            <a:rect l="l" t="t" r="r" b="b"/>
            <a:pathLst>
              <a:path w="5130494" h="6799449">
                <a:moveTo>
                  <a:pt x="0" y="0"/>
                </a:moveTo>
                <a:lnTo>
                  <a:pt x="5130493" y="0"/>
                </a:lnTo>
                <a:lnTo>
                  <a:pt x="5130493" y="6799450"/>
                </a:lnTo>
                <a:lnTo>
                  <a:pt x="0" y="679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066893" y="3884164"/>
            <a:ext cx="1993776" cy="1993776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327529" y="3884164"/>
            <a:ext cx="1993776" cy="1993776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207251" y="3884164"/>
            <a:ext cx="1993776" cy="1993776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187171" y="3884164"/>
            <a:ext cx="1993776" cy="1993776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sp>
        <p:nvSpPr>
          <p:cNvPr id="12" name="AutoShape 12"/>
          <p:cNvSpPr/>
          <p:nvPr/>
        </p:nvSpPr>
        <p:spPr>
          <a:xfrm>
            <a:off x="7285549" y="2681506"/>
            <a:ext cx="3716901" cy="0"/>
          </a:xfrm>
          <a:prstGeom prst="line">
            <a:avLst/>
          </a:prstGeom>
          <a:ln w="3810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6726568" y="4423561"/>
            <a:ext cx="914982" cy="914982"/>
          </a:xfrm>
          <a:custGeom>
            <a:avLst/>
            <a:gdLst/>
            <a:ahLst/>
            <a:cxnLst/>
            <a:rect l="l" t="t" r="r" b="b"/>
            <a:pathLst>
              <a:path w="914982" h="914982">
                <a:moveTo>
                  <a:pt x="0" y="0"/>
                </a:moveTo>
                <a:lnTo>
                  <a:pt x="914982" y="0"/>
                </a:lnTo>
                <a:lnTo>
                  <a:pt x="914982" y="914982"/>
                </a:lnTo>
                <a:lnTo>
                  <a:pt x="0" y="9149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687052" y="4423561"/>
            <a:ext cx="1291608" cy="1020370"/>
          </a:xfrm>
          <a:custGeom>
            <a:avLst/>
            <a:gdLst/>
            <a:ahLst/>
            <a:cxnLst/>
            <a:rect l="l" t="t" r="r" b="b"/>
            <a:pathLst>
              <a:path w="1291608" h="1020370">
                <a:moveTo>
                  <a:pt x="0" y="0"/>
                </a:moveTo>
                <a:lnTo>
                  <a:pt x="1291608" y="0"/>
                </a:lnTo>
                <a:lnTo>
                  <a:pt x="1291608" y="1020370"/>
                </a:lnTo>
                <a:lnTo>
                  <a:pt x="0" y="10203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604293" y="4344660"/>
            <a:ext cx="918975" cy="1178173"/>
          </a:xfrm>
          <a:custGeom>
            <a:avLst/>
            <a:gdLst/>
            <a:ahLst/>
            <a:cxnLst/>
            <a:rect l="l" t="t" r="r" b="b"/>
            <a:pathLst>
              <a:path w="918975" h="1178173">
                <a:moveTo>
                  <a:pt x="0" y="0"/>
                </a:moveTo>
                <a:lnTo>
                  <a:pt x="918975" y="0"/>
                </a:lnTo>
                <a:lnTo>
                  <a:pt x="918975" y="1178172"/>
                </a:lnTo>
                <a:lnTo>
                  <a:pt x="0" y="1178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425472" y="4539703"/>
            <a:ext cx="1557335" cy="798840"/>
          </a:xfrm>
          <a:custGeom>
            <a:avLst/>
            <a:gdLst/>
            <a:ahLst/>
            <a:cxnLst/>
            <a:rect l="l" t="t" r="r" b="b"/>
            <a:pathLst>
              <a:path w="1557335" h="798840">
                <a:moveTo>
                  <a:pt x="0" y="0"/>
                </a:moveTo>
                <a:lnTo>
                  <a:pt x="1557335" y="0"/>
                </a:lnTo>
                <a:lnTo>
                  <a:pt x="1557335" y="798840"/>
                </a:lnTo>
                <a:lnTo>
                  <a:pt x="0" y="7988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623331" y="6089412"/>
            <a:ext cx="340217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Tecnologia de Ultima Geração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84309" y="6930787"/>
            <a:ext cx="3502372" cy="153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Cameras HD+, alarmes modernas e sensores avançados. Protegendo sua familia com tecnologia e dedicação.</a:t>
            </a:r>
          </a:p>
          <a:p>
            <a:pPr algn="ctr">
              <a:lnSpc>
                <a:spcPts val="2439"/>
              </a:lnSpc>
            </a:pPr>
            <a:endParaRPr lang="en-US" sz="1742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1757565"/>
            <a:ext cx="16230600" cy="752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6000" spc="594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PONTOS PRINCIPAIS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28898" y="6052025"/>
            <a:ext cx="3869765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Empresa Profissional</a:t>
            </a:r>
          </a:p>
          <a:p>
            <a:pPr algn="ctr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53746" y="6089412"/>
            <a:ext cx="2700786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Entrega em todo país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3474" y="6089412"/>
            <a:ext cx="2361170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Suporte 24h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8898" y="6930787"/>
            <a:ext cx="3669369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9653350" y="6940312"/>
            <a:ext cx="3316585" cy="111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588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Levando segurança residencial para proteger lares em diferentes regiões. Estamos sempre prontos para oferecer proteçaõ onde você estiver.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4497" y="6857935"/>
            <a:ext cx="362950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Nossa equipe está sempre pronta para entender e resolver qualquer necessidade. dia e noite.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8898" y="6876985"/>
            <a:ext cx="3987774" cy="118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  <a:spcBef>
                <a:spcPct val="0"/>
              </a:spcBef>
            </a:pPr>
            <a:r>
              <a:rPr lang="en-US" sz="17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Solucionando casos de segurança eletrônica, oferecendo tecnologia de ponta, atendimento humanizado e projetos personalizados.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07081">
            <a:off x="-4457062" y="3332256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34322">
            <a:off x="11714285" y="-2156927"/>
            <a:ext cx="12090101" cy="9430279"/>
          </a:xfrm>
          <a:custGeom>
            <a:avLst/>
            <a:gdLst/>
            <a:ahLst/>
            <a:cxnLst/>
            <a:rect l="l" t="t" r="r" b="b"/>
            <a:pathLst>
              <a:path w="12090101" h="9430279">
                <a:moveTo>
                  <a:pt x="0" y="0"/>
                </a:moveTo>
                <a:lnTo>
                  <a:pt x="12090102" y="0"/>
                </a:lnTo>
                <a:lnTo>
                  <a:pt x="12090102" y="9430278"/>
                </a:lnTo>
                <a:lnTo>
                  <a:pt x="0" y="9430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2158343" y="4537457"/>
            <a:ext cx="4351081" cy="4317582"/>
            <a:chOff x="0" y="0"/>
            <a:chExt cx="1145964" cy="11371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68460" y="4537457"/>
            <a:ext cx="4351081" cy="4317582"/>
            <a:chOff x="0" y="0"/>
            <a:chExt cx="1145964" cy="11371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78577" y="4537457"/>
            <a:ext cx="4351081" cy="4317582"/>
            <a:chOff x="0" y="0"/>
            <a:chExt cx="1145964" cy="11371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58343" y="2279567"/>
            <a:ext cx="4351081" cy="4317582"/>
            <a:chOff x="0" y="0"/>
            <a:chExt cx="1145964" cy="11371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58343" y="2279567"/>
            <a:ext cx="4351081" cy="828280"/>
            <a:chOff x="0" y="0"/>
            <a:chExt cx="1145964" cy="2181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5964" cy="218148"/>
            </a:xfrm>
            <a:custGeom>
              <a:avLst/>
              <a:gdLst/>
              <a:ahLst/>
              <a:cxnLst/>
              <a:rect l="l" t="t" r="r" b="b"/>
              <a:pathLst>
                <a:path w="1145964" h="218148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27403"/>
                  </a:lnTo>
                  <a:cubicBezTo>
                    <a:pt x="1145964" y="177520"/>
                    <a:pt x="1105336" y="218148"/>
                    <a:pt x="1055219" y="218148"/>
                  </a:cubicBezTo>
                  <a:lnTo>
                    <a:pt x="90745" y="218148"/>
                  </a:lnTo>
                  <a:cubicBezTo>
                    <a:pt x="66678" y="218148"/>
                    <a:pt x="43596" y="208587"/>
                    <a:pt x="26579" y="191569"/>
                  </a:cubicBezTo>
                  <a:cubicBezTo>
                    <a:pt x="9561" y="174551"/>
                    <a:pt x="0" y="151470"/>
                    <a:pt x="0" y="127403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145964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968460" y="2279567"/>
            <a:ext cx="4351081" cy="4317582"/>
            <a:chOff x="0" y="0"/>
            <a:chExt cx="1145964" cy="113714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68460" y="2279567"/>
            <a:ext cx="4351081" cy="828280"/>
            <a:chOff x="0" y="0"/>
            <a:chExt cx="1145964" cy="2181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5964" cy="218148"/>
            </a:xfrm>
            <a:custGeom>
              <a:avLst/>
              <a:gdLst/>
              <a:ahLst/>
              <a:cxnLst/>
              <a:rect l="l" t="t" r="r" b="b"/>
              <a:pathLst>
                <a:path w="1145964" h="218148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27403"/>
                  </a:lnTo>
                  <a:cubicBezTo>
                    <a:pt x="1145964" y="177520"/>
                    <a:pt x="1105336" y="218148"/>
                    <a:pt x="1055219" y="218148"/>
                  </a:cubicBezTo>
                  <a:lnTo>
                    <a:pt x="90745" y="218148"/>
                  </a:lnTo>
                  <a:cubicBezTo>
                    <a:pt x="66678" y="218148"/>
                    <a:pt x="43596" y="208587"/>
                    <a:pt x="26579" y="191569"/>
                  </a:cubicBezTo>
                  <a:cubicBezTo>
                    <a:pt x="9561" y="174551"/>
                    <a:pt x="0" y="151470"/>
                    <a:pt x="0" y="127403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145964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778577" y="2279567"/>
            <a:ext cx="4351081" cy="4317582"/>
            <a:chOff x="0" y="0"/>
            <a:chExt cx="1145964" cy="113714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778577" y="2279567"/>
            <a:ext cx="4351081" cy="828280"/>
            <a:chOff x="0" y="0"/>
            <a:chExt cx="1145964" cy="2181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45964" cy="218148"/>
            </a:xfrm>
            <a:custGeom>
              <a:avLst/>
              <a:gdLst/>
              <a:ahLst/>
              <a:cxnLst/>
              <a:rect l="l" t="t" r="r" b="b"/>
              <a:pathLst>
                <a:path w="1145964" h="218148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27403"/>
                  </a:lnTo>
                  <a:cubicBezTo>
                    <a:pt x="1145964" y="177520"/>
                    <a:pt x="1105336" y="218148"/>
                    <a:pt x="1055219" y="218148"/>
                  </a:cubicBezTo>
                  <a:lnTo>
                    <a:pt x="90745" y="218148"/>
                  </a:lnTo>
                  <a:cubicBezTo>
                    <a:pt x="66678" y="218148"/>
                    <a:pt x="43596" y="208587"/>
                    <a:pt x="26579" y="191569"/>
                  </a:cubicBezTo>
                  <a:cubicBezTo>
                    <a:pt x="9561" y="174551"/>
                    <a:pt x="0" y="151470"/>
                    <a:pt x="0" y="127403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1145964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2693788" y="3107846"/>
            <a:ext cx="3280191" cy="3280191"/>
          </a:xfrm>
          <a:custGeom>
            <a:avLst/>
            <a:gdLst/>
            <a:ahLst/>
            <a:cxnLst/>
            <a:rect l="l" t="t" r="r" b="b"/>
            <a:pathLst>
              <a:path w="3280191" h="3280191">
                <a:moveTo>
                  <a:pt x="0" y="0"/>
                </a:moveTo>
                <a:lnTo>
                  <a:pt x="3280190" y="0"/>
                </a:lnTo>
                <a:lnTo>
                  <a:pt x="3280190" y="3280191"/>
                </a:lnTo>
                <a:lnTo>
                  <a:pt x="0" y="3280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368071" y="4144471"/>
            <a:ext cx="3551858" cy="1206942"/>
          </a:xfrm>
          <a:custGeom>
            <a:avLst/>
            <a:gdLst/>
            <a:ahLst/>
            <a:cxnLst/>
            <a:rect l="l" t="t" r="r" b="b"/>
            <a:pathLst>
              <a:path w="3551858" h="1206942">
                <a:moveTo>
                  <a:pt x="0" y="0"/>
                </a:moveTo>
                <a:lnTo>
                  <a:pt x="3551858" y="0"/>
                </a:lnTo>
                <a:lnTo>
                  <a:pt x="3551858" y="1206942"/>
                </a:lnTo>
                <a:lnTo>
                  <a:pt x="0" y="1206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206105" y="4375084"/>
            <a:ext cx="3505896" cy="768416"/>
          </a:xfrm>
          <a:custGeom>
            <a:avLst/>
            <a:gdLst/>
            <a:ahLst/>
            <a:cxnLst/>
            <a:rect l="l" t="t" r="r" b="b"/>
            <a:pathLst>
              <a:path w="3505896" h="768416">
                <a:moveTo>
                  <a:pt x="0" y="0"/>
                </a:moveTo>
                <a:lnTo>
                  <a:pt x="3505897" y="0"/>
                </a:lnTo>
                <a:lnTo>
                  <a:pt x="3505897" y="768416"/>
                </a:lnTo>
                <a:lnTo>
                  <a:pt x="0" y="768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3444249" y="449979"/>
            <a:ext cx="11399501" cy="140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2"/>
              </a:lnSpc>
            </a:pPr>
            <a:r>
              <a:rPr lang="en-US" sz="4654" spc="460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ANÁLISE DE MERCADO E DIFERENCIAIS COMPETITIVOS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466771" y="2503525"/>
            <a:ext cx="3691568" cy="33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VERISURE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98216" y="2503525"/>
            <a:ext cx="3691568" cy="33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ASTER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08333" y="2503525"/>
            <a:ext cx="3691568" cy="33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KLAINTELL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68801" y="6863848"/>
            <a:ext cx="3730164" cy="13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</a:pPr>
            <a:r>
              <a:rPr lang="en-US" sz="1478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é referência em alarmes residenciais, com soluções eficientes, porém, bastante voltadas para pacotes pré-definidos e uma abordagem mais automatizada, com menos flexibilidade nas necessidades específicas de cada cliente.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81824" y="6777417"/>
            <a:ext cx="3724351" cy="16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7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destaca na vigilância patrimonial e soluções corporativas, oferecendo bons serviços, mas com foco maior no segmento empresarial tradicional, o que pode limitar a personalização e a proximidade no atendimento.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46555" y="6863848"/>
            <a:ext cx="3615124" cy="137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sz="1464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aposta em tecnologia e monitoramento, mas mantém um modelo que ainda carece de agilidade e flexibilidade em adaptações sob medida, especialmente quando falamos em atendimento personalizado e acompanhamento próximo.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07081">
            <a:off x="-4457062" y="3332256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34322">
            <a:off x="11784141" y="-2021433"/>
            <a:ext cx="12090101" cy="9430279"/>
          </a:xfrm>
          <a:custGeom>
            <a:avLst/>
            <a:gdLst/>
            <a:ahLst/>
            <a:cxnLst/>
            <a:rect l="l" t="t" r="r" b="b"/>
            <a:pathLst>
              <a:path w="12090101" h="9430279">
                <a:moveTo>
                  <a:pt x="0" y="0"/>
                </a:moveTo>
                <a:lnTo>
                  <a:pt x="12090101" y="0"/>
                </a:lnTo>
                <a:lnTo>
                  <a:pt x="12090101" y="9430279"/>
                </a:lnTo>
                <a:lnTo>
                  <a:pt x="0" y="9430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2158343" y="4537457"/>
            <a:ext cx="4351081" cy="4317582"/>
            <a:chOff x="0" y="0"/>
            <a:chExt cx="1145964" cy="11371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968460" y="4537457"/>
            <a:ext cx="4351081" cy="4317582"/>
            <a:chOff x="0" y="0"/>
            <a:chExt cx="1145964" cy="11371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78577" y="4537457"/>
            <a:ext cx="4351081" cy="4317582"/>
            <a:chOff x="0" y="0"/>
            <a:chExt cx="1145964" cy="113714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6618" y="960144"/>
            <a:ext cx="14694765" cy="90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6000" spc="59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PRINCIPAIS PRODUTOS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58343" y="2279567"/>
            <a:ext cx="4351081" cy="4317582"/>
            <a:chOff x="0" y="0"/>
            <a:chExt cx="1145964" cy="113714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58343" y="2279567"/>
            <a:ext cx="4352917" cy="828280"/>
            <a:chOff x="0" y="0"/>
            <a:chExt cx="1146447" cy="2181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6447" cy="218148"/>
            </a:xfrm>
            <a:custGeom>
              <a:avLst/>
              <a:gdLst/>
              <a:ahLst/>
              <a:cxnLst/>
              <a:rect l="l" t="t" r="r" b="b"/>
              <a:pathLst>
                <a:path w="1146447" h="218148">
                  <a:moveTo>
                    <a:pt x="90707" y="0"/>
                  </a:moveTo>
                  <a:lnTo>
                    <a:pt x="1055741" y="0"/>
                  </a:lnTo>
                  <a:cubicBezTo>
                    <a:pt x="1079798" y="0"/>
                    <a:pt x="1102869" y="9557"/>
                    <a:pt x="1119880" y="26567"/>
                  </a:cubicBezTo>
                  <a:cubicBezTo>
                    <a:pt x="1136891" y="43578"/>
                    <a:pt x="1146447" y="66650"/>
                    <a:pt x="1146447" y="90707"/>
                  </a:cubicBezTo>
                  <a:lnTo>
                    <a:pt x="1146447" y="127441"/>
                  </a:lnTo>
                  <a:cubicBezTo>
                    <a:pt x="1146447" y="151498"/>
                    <a:pt x="1136891" y="174570"/>
                    <a:pt x="1119880" y="191580"/>
                  </a:cubicBezTo>
                  <a:cubicBezTo>
                    <a:pt x="1102869" y="208591"/>
                    <a:pt x="1079798" y="218148"/>
                    <a:pt x="1055741" y="218148"/>
                  </a:cubicBezTo>
                  <a:lnTo>
                    <a:pt x="90707" y="218148"/>
                  </a:lnTo>
                  <a:cubicBezTo>
                    <a:pt x="66650" y="218148"/>
                    <a:pt x="43578" y="208591"/>
                    <a:pt x="26567" y="191580"/>
                  </a:cubicBezTo>
                  <a:cubicBezTo>
                    <a:pt x="9557" y="174570"/>
                    <a:pt x="0" y="151498"/>
                    <a:pt x="0" y="127441"/>
                  </a:cubicBezTo>
                  <a:lnTo>
                    <a:pt x="0" y="90707"/>
                  </a:lnTo>
                  <a:cubicBezTo>
                    <a:pt x="0" y="66650"/>
                    <a:pt x="9557" y="43578"/>
                    <a:pt x="26567" y="26567"/>
                  </a:cubicBezTo>
                  <a:cubicBezTo>
                    <a:pt x="43578" y="9557"/>
                    <a:pt x="66650" y="0"/>
                    <a:pt x="90707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46447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de Segurança HD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68460" y="2279567"/>
            <a:ext cx="4351081" cy="4317582"/>
            <a:chOff x="0" y="0"/>
            <a:chExt cx="1145964" cy="113714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68460" y="2279567"/>
            <a:ext cx="4351081" cy="828280"/>
            <a:chOff x="0" y="0"/>
            <a:chExt cx="1145964" cy="21814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5964" cy="218148"/>
            </a:xfrm>
            <a:custGeom>
              <a:avLst/>
              <a:gdLst/>
              <a:ahLst/>
              <a:cxnLst/>
              <a:rect l="l" t="t" r="r" b="b"/>
              <a:pathLst>
                <a:path w="1145964" h="218148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27403"/>
                  </a:lnTo>
                  <a:cubicBezTo>
                    <a:pt x="1145964" y="177520"/>
                    <a:pt x="1105336" y="218148"/>
                    <a:pt x="1055219" y="218148"/>
                  </a:cubicBezTo>
                  <a:lnTo>
                    <a:pt x="90745" y="218148"/>
                  </a:lnTo>
                  <a:cubicBezTo>
                    <a:pt x="66678" y="218148"/>
                    <a:pt x="43596" y="208587"/>
                    <a:pt x="26579" y="191569"/>
                  </a:cubicBezTo>
                  <a:cubicBezTo>
                    <a:pt x="9561" y="174551"/>
                    <a:pt x="0" y="151470"/>
                    <a:pt x="0" y="127403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45964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78577" y="2279567"/>
            <a:ext cx="4351081" cy="4317582"/>
            <a:chOff x="0" y="0"/>
            <a:chExt cx="1145964" cy="11371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5964" cy="1137141"/>
            </a:xfrm>
            <a:custGeom>
              <a:avLst/>
              <a:gdLst/>
              <a:ahLst/>
              <a:cxnLst/>
              <a:rect l="l" t="t" r="r" b="b"/>
              <a:pathLst>
                <a:path w="1145964" h="1137141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046396"/>
                  </a:lnTo>
                  <a:cubicBezTo>
                    <a:pt x="1145964" y="1070463"/>
                    <a:pt x="1136403" y="1093544"/>
                    <a:pt x="1119385" y="1110562"/>
                  </a:cubicBezTo>
                  <a:cubicBezTo>
                    <a:pt x="1102367" y="1127580"/>
                    <a:pt x="1079286" y="1137141"/>
                    <a:pt x="1055219" y="1137141"/>
                  </a:cubicBezTo>
                  <a:lnTo>
                    <a:pt x="90745" y="1137141"/>
                  </a:lnTo>
                  <a:cubicBezTo>
                    <a:pt x="66678" y="1137141"/>
                    <a:pt x="43596" y="1127580"/>
                    <a:pt x="26579" y="1110562"/>
                  </a:cubicBezTo>
                  <a:cubicBezTo>
                    <a:pt x="9561" y="1093544"/>
                    <a:pt x="0" y="1070463"/>
                    <a:pt x="0" y="1046396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FFFFFE"/>
            </a:solidFill>
            <a:ln w="28575" cap="rnd">
              <a:solidFill>
                <a:srgbClr val="07071C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145964" cy="1194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778577" y="2279567"/>
            <a:ext cx="4351081" cy="828280"/>
            <a:chOff x="0" y="0"/>
            <a:chExt cx="1145964" cy="2181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5964" cy="218148"/>
            </a:xfrm>
            <a:custGeom>
              <a:avLst/>
              <a:gdLst/>
              <a:ahLst/>
              <a:cxnLst/>
              <a:rect l="l" t="t" r="r" b="b"/>
              <a:pathLst>
                <a:path w="1145964" h="218148">
                  <a:moveTo>
                    <a:pt x="90745" y="0"/>
                  </a:moveTo>
                  <a:lnTo>
                    <a:pt x="1055219" y="0"/>
                  </a:lnTo>
                  <a:cubicBezTo>
                    <a:pt x="1079286" y="0"/>
                    <a:pt x="1102367" y="9561"/>
                    <a:pt x="1119385" y="26579"/>
                  </a:cubicBezTo>
                  <a:cubicBezTo>
                    <a:pt x="1136403" y="43596"/>
                    <a:pt x="1145964" y="66678"/>
                    <a:pt x="1145964" y="90745"/>
                  </a:cubicBezTo>
                  <a:lnTo>
                    <a:pt x="1145964" y="127403"/>
                  </a:lnTo>
                  <a:cubicBezTo>
                    <a:pt x="1145964" y="177520"/>
                    <a:pt x="1105336" y="218148"/>
                    <a:pt x="1055219" y="218148"/>
                  </a:cubicBezTo>
                  <a:lnTo>
                    <a:pt x="90745" y="218148"/>
                  </a:lnTo>
                  <a:cubicBezTo>
                    <a:pt x="66678" y="218148"/>
                    <a:pt x="43596" y="208587"/>
                    <a:pt x="26579" y="191569"/>
                  </a:cubicBezTo>
                  <a:cubicBezTo>
                    <a:pt x="9561" y="174551"/>
                    <a:pt x="0" y="151470"/>
                    <a:pt x="0" y="127403"/>
                  </a:cubicBezTo>
                  <a:lnTo>
                    <a:pt x="0" y="90745"/>
                  </a:lnTo>
                  <a:cubicBezTo>
                    <a:pt x="0" y="66678"/>
                    <a:pt x="9561" y="43596"/>
                    <a:pt x="26579" y="26579"/>
                  </a:cubicBezTo>
                  <a:cubicBezTo>
                    <a:pt x="43596" y="9561"/>
                    <a:pt x="66678" y="0"/>
                    <a:pt x="90745" y="0"/>
                  </a:cubicBezTo>
                  <a:close/>
                </a:path>
              </a:pathLst>
            </a:custGeom>
            <a:solidFill>
              <a:srgbClr val="171658"/>
            </a:solidFill>
            <a:ln cap="rnd">
              <a:noFill/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145964" cy="275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321126" y="2503525"/>
            <a:ext cx="3691568" cy="332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ALARME RESIDENCIAL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10115" y="2513050"/>
            <a:ext cx="3865541" cy="336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SENSOR DE PRESENÇA</a:t>
            </a:r>
          </a:p>
        </p:txBody>
      </p:sp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2476644" y="3526946"/>
          <a:ext cx="3714478" cy="2389672"/>
        </p:xfrm>
        <a:graphic>
          <a:graphicData uri="http://schemas.openxmlformats.org/drawingml/2006/table">
            <a:tbl>
              <a:tblPr/>
              <a:tblGrid>
                <a:gridCol w="3714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342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Resolução HD+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Sensor Infravermelho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Visão Noturna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7298216" y="3526946"/>
          <a:ext cx="3714478" cy="2389672"/>
        </p:xfrm>
        <a:graphic>
          <a:graphicData uri="http://schemas.openxmlformats.org/drawingml/2006/table">
            <a:tbl>
              <a:tblPr/>
              <a:tblGrid>
                <a:gridCol w="3714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342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Conexão Via Wi-Fi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Acionamento 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Sistema de Voz integrada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12108333" y="3526946"/>
          <a:ext cx="3691568" cy="2389672"/>
        </p:xfrm>
        <a:graphic>
          <a:graphicData uri="http://schemas.openxmlformats.org/drawingml/2006/table">
            <a:tbl>
              <a:tblPr/>
              <a:tblGrid>
                <a:gridCol w="369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53422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Sensor de Aproximação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Detector de fumaça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125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Sensor de emrergência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" name="TextBox 37"/>
          <p:cNvSpPr txBox="1"/>
          <p:nvPr/>
        </p:nvSpPr>
        <p:spPr>
          <a:xfrm>
            <a:off x="2476644" y="6997198"/>
            <a:ext cx="3730164" cy="134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3"/>
              </a:lnSpc>
            </a:pPr>
            <a:r>
              <a:rPr lang="en-US" sz="121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A câmera de segurança HD+ oferece imagens em alta definição, garantindo mais nitidez e detalhes no monitoramento. Equipada com sensor infravermelho, ela proporciona visão noturna de alta performance, permitindo capturar tudo com clareza, mesmo em ambientes escuros. Ideal para proteger residências e estabelecimentos com segurança 24 horas.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81824" y="7060172"/>
            <a:ext cx="3707960" cy="1765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1"/>
              </a:lnSpc>
            </a:pPr>
            <a:r>
              <a:rPr lang="en-US" sz="124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 alarme residencial conta com conexão via Wi-Fi, permitindo controle remoto de qualquer lugar. Possui acionamento rápido por botão SOS para situações de emergência e sistema de voz integrado, que facilita a configuração e os alertas em tempo real, garantindo mais praticidade e segurança para sua casa.</a:t>
            </a:r>
          </a:p>
          <a:p>
            <a:pPr algn="ctr">
              <a:lnSpc>
                <a:spcPts val="1561"/>
              </a:lnSpc>
            </a:pPr>
            <a:endParaRPr lang="en-US" sz="1249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ctr">
              <a:lnSpc>
                <a:spcPts val="1561"/>
              </a:lnSpc>
            </a:pPr>
            <a:endParaRPr lang="en-US" sz="1249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096878" y="7006723"/>
            <a:ext cx="3639697" cy="147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175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 sensor de presença é um dispositivo completo que combina sensor de aproximação, detector de fumaça e sensor de emergência. Além de detectar movimentos, identifica sinais de fumaça e, em caso de qualquer alteração suspeita ou anormalidade em aparelhos, aciona automaticamente as autoridades, oferecendo proteção inteligente e imediata para seu ambiente.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007081">
            <a:off x="8949227" y="5649441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2" y="0"/>
                </a:lnTo>
                <a:lnTo>
                  <a:pt x="10663992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0134322">
            <a:off x="-2529068" y="-4689660"/>
            <a:ext cx="12090101" cy="9430279"/>
          </a:xfrm>
          <a:custGeom>
            <a:avLst/>
            <a:gdLst/>
            <a:ahLst/>
            <a:cxnLst/>
            <a:rect l="l" t="t" r="r" b="b"/>
            <a:pathLst>
              <a:path w="12090101" h="9430279">
                <a:moveTo>
                  <a:pt x="0" y="0"/>
                </a:moveTo>
                <a:lnTo>
                  <a:pt x="12090101" y="0"/>
                </a:lnTo>
                <a:lnTo>
                  <a:pt x="12090101" y="9430279"/>
                </a:lnTo>
                <a:lnTo>
                  <a:pt x="0" y="9430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3515983" y="3701363"/>
            <a:ext cx="11256034" cy="1927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sz="8100" spc="801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PROJETO</a:t>
            </a:r>
          </a:p>
          <a:p>
            <a:pPr algn="ctr">
              <a:lnSpc>
                <a:spcPts val="7290"/>
              </a:lnSpc>
            </a:pPr>
            <a:r>
              <a:rPr lang="en-US" sz="8100" spc="801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PIXELTECH.CO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5983" y="6139988"/>
            <a:ext cx="11256034" cy="349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Descrição + processo + Entrega</a:t>
            </a:r>
          </a:p>
        </p:txBody>
      </p:sp>
      <p:sp>
        <p:nvSpPr>
          <p:cNvPr id="6" name="AutoShape 6"/>
          <p:cNvSpPr/>
          <p:nvPr/>
        </p:nvSpPr>
        <p:spPr>
          <a:xfrm>
            <a:off x="7285549" y="5803791"/>
            <a:ext cx="3716901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35346">
            <a:off x="9794235" y="-5348080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353738">
            <a:off x="-5462157" y="4868967"/>
            <a:ext cx="10461728" cy="10836065"/>
          </a:xfrm>
          <a:custGeom>
            <a:avLst/>
            <a:gdLst/>
            <a:ahLst/>
            <a:cxnLst/>
            <a:rect l="l" t="t" r="r" b="b"/>
            <a:pathLst>
              <a:path w="10461728" h="10836065">
                <a:moveTo>
                  <a:pt x="0" y="0"/>
                </a:moveTo>
                <a:lnTo>
                  <a:pt x="10461728" y="0"/>
                </a:lnTo>
                <a:lnTo>
                  <a:pt x="10461728" y="10836066"/>
                </a:lnTo>
                <a:lnTo>
                  <a:pt x="0" y="10836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72593" y="750147"/>
            <a:ext cx="8786707" cy="8786707"/>
            <a:chOff x="0" y="0"/>
            <a:chExt cx="12700000" cy="12700000"/>
          </a:xfrm>
        </p:grpSpPr>
        <p:sp>
          <p:nvSpPr>
            <p:cNvPr id="5" name="Freeform 5"/>
            <p:cNvSpPr/>
            <p:nvPr/>
          </p:nvSpPr>
          <p:spPr>
            <a:xfrm>
              <a:off x="-11430" y="857250"/>
              <a:ext cx="13009880" cy="11644630"/>
            </a:xfrm>
            <a:custGeom>
              <a:avLst/>
              <a:gdLst/>
              <a:ahLst/>
              <a:cxnLst/>
              <a:rect l="l" t="t" r="r" b="b"/>
              <a:pathLst>
                <a:path w="13009880" h="11644630">
                  <a:moveTo>
                    <a:pt x="10152380" y="938530"/>
                  </a:moveTo>
                  <a:cubicBezTo>
                    <a:pt x="8962390" y="189230"/>
                    <a:pt x="8643620" y="154940"/>
                    <a:pt x="7245350" y="0"/>
                  </a:cubicBezTo>
                  <a:cubicBezTo>
                    <a:pt x="4039870" y="38100"/>
                    <a:pt x="1441450" y="1889760"/>
                    <a:pt x="435610" y="4933950"/>
                  </a:cubicBezTo>
                  <a:cubicBezTo>
                    <a:pt x="91440" y="5975350"/>
                    <a:pt x="0" y="7139940"/>
                    <a:pt x="403860" y="8159750"/>
                  </a:cubicBezTo>
                  <a:cubicBezTo>
                    <a:pt x="934720" y="9499600"/>
                    <a:pt x="2254250" y="10407650"/>
                    <a:pt x="3648710" y="10773410"/>
                  </a:cubicBezTo>
                  <a:cubicBezTo>
                    <a:pt x="5043170" y="11140440"/>
                    <a:pt x="6578600" y="11644630"/>
                    <a:pt x="8008620" y="11470640"/>
                  </a:cubicBezTo>
                  <a:cubicBezTo>
                    <a:pt x="9123680" y="11334750"/>
                    <a:pt x="10237470" y="10519410"/>
                    <a:pt x="11071860" y="9767570"/>
                  </a:cubicBezTo>
                  <a:cubicBezTo>
                    <a:pt x="11625580" y="9268460"/>
                    <a:pt x="11971020" y="8576310"/>
                    <a:pt x="12202160" y="7867650"/>
                  </a:cubicBezTo>
                  <a:cubicBezTo>
                    <a:pt x="13009880" y="5401310"/>
                    <a:pt x="12348210" y="2322830"/>
                    <a:pt x="10152380" y="938530"/>
                  </a:cubicBezTo>
                  <a:close/>
                </a:path>
              </a:pathLst>
            </a:custGeom>
            <a:blipFill>
              <a:blip r:embed="rId4"/>
              <a:stretch>
                <a:fillRect l="-19656" r="-1965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50389" y="2174598"/>
            <a:ext cx="7719281" cy="156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6"/>
              </a:lnSpc>
            </a:pPr>
            <a:r>
              <a:rPr lang="en-US" sz="5200" spc="51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DESCRIÇÃO DO PROJETO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453076"/>
            <a:ext cx="6962659" cy="3324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Desenvolvimento de um site completo para uma empresa de seguros independente, oferecendo uma plataforma institucional e um portal exclusivo para clientes. O sistema permite que a empresa tenha controle total dos dados, gestão de clientes, acompanhamento de estoque, processos de pedidos e finalizações. Além disso, os clientes têm acesso a avaliações, produtos, orçamentos, informações da empresa e suporte, tudo de forma prática e segura.</a:t>
            </a:r>
          </a:p>
        </p:txBody>
      </p:sp>
      <p:sp>
        <p:nvSpPr>
          <p:cNvPr id="8" name="AutoShape 8"/>
          <p:cNvSpPr/>
          <p:nvPr/>
        </p:nvSpPr>
        <p:spPr>
          <a:xfrm>
            <a:off x="2119914" y="3759564"/>
            <a:ext cx="4780231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4568" y="4693043"/>
            <a:ext cx="7051293" cy="352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 projeto foi desenvolvido com base na análise dos requisitos da empresa de seguros, visando atender tanto a gestão interna quanto a experiência do usuário. Foram utilizadas as tecnologias Java, JavaServer Pages (JSP), MySQL, Apache Tomcat e Visual Studio Code, garantindo um sistema dinâmico e seguro. A solução permite o controle de dados, estoque, pedidos e processos, além de oferecer aos clientes um portal com acesso a informações, produtos, orçamentos e suporte, promovendo eficiência e praticidade.</a:t>
            </a:r>
          </a:p>
          <a:p>
            <a:pPr algn="r">
              <a:lnSpc>
                <a:spcPts val="2800"/>
              </a:lnSpc>
            </a:pPr>
            <a:endParaRPr lang="en-US" sz="2000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" name="Freeform 3"/>
          <p:cNvSpPr/>
          <p:nvPr/>
        </p:nvSpPr>
        <p:spPr>
          <a:xfrm rot="10710603" flipV="1">
            <a:off x="15350608" y="6728709"/>
            <a:ext cx="3817383" cy="5059183"/>
          </a:xfrm>
          <a:custGeom>
            <a:avLst/>
            <a:gdLst/>
            <a:ahLst/>
            <a:cxnLst/>
            <a:rect l="l" t="t" r="r" b="b"/>
            <a:pathLst>
              <a:path w="3817383" h="5059183">
                <a:moveTo>
                  <a:pt x="0" y="5059182"/>
                </a:moveTo>
                <a:lnTo>
                  <a:pt x="3817384" y="5059182"/>
                </a:lnTo>
                <a:lnTo>
                  <a:pt x="3817384" y="0"/>
                </a:lnTo>
                <a:lnTo>
                  <a:pt x="0" y="0"/>
                </a:lnTo>
                <a:lnTo>
                  <a:pt x="0" y="50591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3072" y="1773797"/>
            <a:ext cx="7383621" cy="7106800"/>
            <a:chOff x="30480" y="591820"/>
            <a:chExt cx="12736830" cy="12259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36830" cy="12259310"/>
            </a:xfrm>
            <a:custGeom>
              <a:avLst/>
              <a:gdLst/>
              <a:ahLst/>
              <a:cxnLst/>
              <a:rect l="l" t="t" r="r" b="b"/>
              <a:pathLst>
                <a:path w="12736830" h="12259310">
                  <a:moveTo>
                    <a:pt x="11925300" y="4271010"/>
                  </a:moveTo>
                  <a:cubicBezTo>
                    <a:pt x="10819130" y="2120900"/>
                    <a:pt x="8590280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20"/>
                    <a:pt x="1822450" y="10811510"/>
                    <a:pt x="2842260" y="11203940"/>
                  </a:cubicBezTo>
                  <a:cubicBezTo>
                    <a:pt x="5585460" y="12259310"/>
                    <a:pt x="8953501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4"/>
              <a:stretch>
                <a:fillRect l="-18978" r="-1897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696580" y="2391416"/>
            <a:ext cx="7719281" cy="156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136"/>
              </a:lnSpc>
            </a:pPr>
            <a:r>
              <a:rPr lang="en-US" sz="5200" spc="514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PESQUISA E DESENVOLVIMENTO</a:t>
            </a:r>
          </a:p>
        </p:txBody>
      </p:sp>
      <p:sp>
        <p:nvSpPr>
          <p:cNvPr id="7" name="Freeform 7"/>
          <p:cNvSpPr/>
          <p:nvPr/>
        </p:nvSpPr>
        <p:spPr>
          <a:xfrm rot="659014" flipV="1">
            <a:off x="-1536547" y="-1625928"/>
            <a:ext cx="5130494" cy="6799449"/>
          </a:xfrm>
          <a:custGeom>
            <a:avLst/>
            <a:gdLst/>
            <a:ahLst/>
            <a:cxnLst/>
            <a:rect l="l" t="t" r="r" b="b"/>
            <a:pathLst>
              <a:path w="5130494" h="6799449">
                <a:moveTo>
                  <a:pt x="0" y="6799450"/>
                </a:moveTo>
                <a:lnTo>
                  <a:pt x="5130494" y="6799450"/>
                </a:lnTo>
                <a:lnTo>
                  <a:pt x="5130494" y="0"/>
                </a:lnTo>
                <a:lnTo>
                  <a:pt x="0" y="0"/>
                </a:lnTo>
                <a:lnTo>
                  <a:pt x="0" y="679945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607706" y="4350143"/>
            <a:ext cx="680815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35346">
            <a:off x="10556211" y="-7686502"/>
            <a:ext cx="10663992" cy="11045566"/>
          </a:xfrm>
          <a:custGeom>
            <a:avLst/>
            <a:gdLst/>
            <a:ahLst/>
            <a:cxnLst/>
            <a:rect l="l" t="t" r="r" b="b"/>
            <a:pathLst>
              <a:path w="10663992" h="11045566">
                <a:moveTo>
                  <a:pt x="0" y="0"/>
                </a:moveTo>
                <a:lnTo>
                  <a:pt x="10663993" y="0"/>
                </a:lnTo>
                <a:lnTo>
                  <a:pt x="10663993" y="11045566"/>
                </a:lnTo>
                <a:lnTo>
                  <a:pt x="0" y="11045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353738">
            <a:off x="-7582525" y="5419594"/>
            <a:ext cx="10461728" cy="10836065"/>
          </a:xfrm>
          <a:custGeom>
            <a:avLst/>
            <a:gdLst/>
            <a:ahLst/>
            <a:cxnLst/>
            <a:rect l="l" t="t" r="r" b="b"/>
            <a:pathLst>
              <a:path w="10461728" h="10836065">
                <a:moveTo>
                  <a:pt x="0" y="0"/>
                </a:moveTo>
                <a:lnTo>
                  <a:pt x="10461728" y="0"/>
                </a:lnTo>
                <a:lnTo>
                  <a:pt x="10461728" y="10836066"/>
                </a:lnTo>
                <a:lnTo>
                  <a:pt x="0" y="10836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9128" y="5507736"/>
            <a:ext cx="15950723" cy="3014100"/>
          </a:xfrm>
          <a:custGeom>
            <a:avLst/>
            <a:gdLst/>
            <a:ahLst/>
            <a:cxnLst/>
            <a:rect l="l" t="t" r="r" b="b"/>
            <a:pathLst>
              <a:path w="15950723" h="3014100">
                <a:moveTo>
                  <a:pt x="0" y="0"/>
                </a:moveTo>
                <a:lnTo>
                  <a:pt x="15950724" y="0"/>
                </a:lnTo>
                <a:lnTo>
                  <a:pt x="15950724" y="3014100"/>
                </a:lnTo>
                <a:lnTo>
                  <a:pt x="0" y="3014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17777" y="6758410"/>
            <a:ext cx="767554" cy="708069"/>
          </a:xfrm>
          <a:custGeom>
            <a:avLst/>
            <a:gdLst/>
            <a:ahLst/>
            <a:cxnLst/>
            <a:rect l="l" t="t" r="r" b="b"/>
            <a:pathLst>
              <a:path w="767554" h="708069">
                <a:moveTo>
                  <a:pt x="0" y="0"/>
                </a:moveTo>
                <a:lnTo>
                  <a:pt x="767555" y="0"/>
                </a:lnTo>
                <a:lnTo>
                  <a:pt x="767555" y="708069"/>
                </a:lnTo>
                <a:lnTo>
                  <a:pt x="0" y="708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35942" y="6660752"/>
            <a:ext cx="903386" cy="903386"/>
          </a:xfrm>
          <a:custGeom>
            <a:avLst/>
            <a:gdLst/>
            <a:ahLst/>
            <a:cxnLst/>
            <a:rect l="l" t="t" r="r" b="b"/>
            <a:pathLst>
              <a:path w="903386" h="903386">
                <a:moveTo>
                  <a:pt x="0" y="0"/>
                </a:moveTo>
                <a:lnTo>
                  <a:pt x="903386" y="0"/>
                </a:lnTo>
                <a:lnTo>
                  <a:pt x="903386" y="903386"/>
                </a:lnTo>
                <a:lnTo>
                  <a:pt x="0" y="903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77392" y="6761654"/>
            <a:ext cx="701581" cy="701581"/>
          </a:xfrm>
          <a:custGeom>
            <a:avLst/>
            <a:gdLst/>
            <a:ahLst/>
            <a:cxnLst/>
            <a:rect l="l" t="t" r="r" b="b"/>
            <a:pathLst>
              <a:path w="701581" h="701581">
                <a:moveTo>
                  <a:pt x="0" y="0"/>
                </a:moveTo>
                <a:lnTo>
                  <a:pt x="701581" y="0"/>
                </a:lnTo>
                <a:lnTo>
                  <a:pt x="701581" y="701581"/>
                </a:lnTo>
                <a:lnTo>
                  <a:pt x="0" y="7015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22716" y="6660752"/>
            <a:ext cx="911674" cy="903386"/>
          </a:xfrm>
          <a:custGeom>
            <a:avLst/>
            <a:gdLst/>
            <a:ahLst/>
            <a:cxnLst/>
            <a:rect l="l" t="t" r="r" b="b"/>
            <a:pathLst>
              <a:path w="911674" h="903386">
                <a:moveTo>
                  <a:pt x="0" y="0"/>
                </a:moveTo>
                <a:lnTo>
                  <a:pt x="911674" y="0"/>
                </a:lnTo>
                <a:lnTo>
                  <a:pt x="911674" y="903386"/>
                </a:lnTo>
                <a:lnTo>
                  <a:pt x="0" y="903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51230" y="2171155"/>
            <a:ext cx="13185539" cy="255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2"/>
              </a:lnSpc>
            </a:pPr>
            <a:r>
              <a:rPr lang="en-US" sz="180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 projeto foi dividido em quatro etapas principais. Na fase de pesquisa, foram identificadas as necessidades da empresa e dos clientes, definindo as funcionalidades essenciais e o fluxo dos processos. Durante o desenvolvimento, foi criada toda a estrutura do sistema, incluindo o site institucional, o portal do cliente e o painel administrativo, permitindo o gerenciamento de dados, pedidos, estoque e processos internos. Na etapa de produção, foram realizados testes para garantir o bom funcionamento, além de ajustes para melhorar desempenho, usabilidade e segurança. Por fim, na entrega final, o sistema foi implantado, acompanhado de orientações para uso, proporcionando uma plataforma funcional, intuitiva e eficiente tanto para a empresa quanto para seus clientes.</a:t>
            </a:r>
          </a:p>
          <a:p>
            <a:pPr algn="ctr">
              <a:lnSpc>
                <a:spcPts val="2532"/>
              </a:lnSpc>
            </a:pPr>
            <a:endParaRPr lang="en-US" sz="1808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13420" y="1104792"/>
            <a:ext cx="11261159" cy="90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6000" spc="59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ETAPAS DO PROJETO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2399" y="394280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9804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01.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41851" y="394280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9804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02.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2769" y="394280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9804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03.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55770" y="394280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9804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04.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41851" y="4911139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DESENVOLVIMENTO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32769" y="4911139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PRODUÇÃO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55770" y="4911139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ENTREGA FINAL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2399" y="4911139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PESQUISA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664315" y="2005858"/>
            <a:ext cx="8935074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7785" y="2557238"/>
            <a:ext cx="3737388" cy="6438444"/>
            <a:chOff x="0" y="0"/>
            <a:chExt cx="984333" cy="1695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333" cy="1695722"/>
            </a:xfrm>
            <a:custGeom>
              <a:avLst/>
              <a:gdLst/>
              <a:ahLst/>
              <a:cxnLst/>
              <a:rect l="l" t="t" r="r" b="b"/>
              <a:pathLst>
                <a:path w="984333" h="1695722">
                  <a:moveTo>
                    <a:pt x="105645" y="0"/>
                  </a:moveTo>
                  <a:lnTo>
                    <a:pt x="878687" y="0"/>
                  </a:lnTo>
                  <a:cubicBezTo>
                    <a:pt x="937034" y="0"/>
                    <a:pt x="984333" y="47299"/>
                    <a:pt x="984333" y="105645"/>
                  </a:cubicBezTo>
                  <a:lnTo>
                    <a:pt x="984333" y="1590076"/>
                  </a:lnTo>
                  <a:cubicBezTo>
                    <a:pt x="984333" y="1618095"/>
                    <a:pt x="973202" y="1644967"/>
                    <a:pt x="953390" y="1664779"/>
                  </a:cubicBezTo>
                  <a:cubicBezTo>
                    <a:pt x="933578" y="1684591"/>
                    <a:pt x="906706" y="1695722"/>
                    <a:pt x="878687" y="1695722"/>
                  </a:cubicBezTo>
                  <a:lnTo>
                    <a:pt x="105645" y="1695722"/>
                  </a:lnTo>
                  <a:cubicBezTo>
                    <a:pt x="77627" y="1695722"/>
                    <a:pt x="50755" y="1684591"/>
                    <a:pt x="30943" y="1664779"/>
                  </a:cubicBezTo>
                  <a:cubicBezTo>
                    <a:pt x="11130" y="1644967"/>
                    <a:pt x="0" y="1618095"/>
                    <a:pt x="0" y="1590076"/>
                  </a:cubicBezTo>
                  <a:lnTo>
                    <a:pt x="0" y="105645"/>
                  </a:lnTo>
                  <a:cubicBezTo>
                    <a:pt x="0" y="47299"/>
                    <a:pt x="47299" y="0"/>
                    <a:pt x="1056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E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4333" cy="1752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09465" y="2557238"/>
            <a:ext cx="3737388" cy="6438444"/>
            <a:chOff x="0" y="0"/>
            <a:chExt cx="984333" cy="1695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4333" cy="1695722"/>
            </a:xfrm>
            <a:custGeom>
              <a:avLst/>
              <a:gdLst/>
              <a:ahLst/>
              <a:cxnLst/>
              <a:rect l="l" t="t" r="r" b="b"/>
              <a:pathLst>
                <a:path w="984333" h="1695722">
                  <a:moveTo>
                    <a:pt x="105645" y="0"/>
                  </a:moveTo>
                  <a:lnTo>
                    <a:pt x="878687" y="0"/>
                  </a:lnTo>
                  <a:cubicBezTo>
                    <a:pt x="937034" y="0"/>
                    <a:pt x="984333" y="47299"/>
                    <a:pt x="984333" y="105645"/>
                  </a:cubicBezTo>
                  <a:lnTo>
                    <a:pt x="984333" y="1590076"/>
                  </a:lnTo>
                  <a:cubicBezTo>
                    <a:pt x="984333" y="1618095"/>
                    <a:pt x="973202" y="1644967"/>
                    <a:pt x="953390" y="1664779"/>
                  </a:cubicBezTo>
                  <a:cubicBezTo>
                    <a:pt x="933578" y="1684591"/>
                    <a:pt x="906706" y="1695722"/>
                    <a:pt x="878687" y="1695722"/>
                  </a:cubicBezTo>
                  <a:lnTo>
                    <a:pt x="105645" y="1695722"/>
                  </a:lnTo>
                  <a:cubicBezTo>
                    <a:pt x="77627" y="1695722"/>
                    <a:pt x="50755" y="1684591"/>
                    <a:pt x="30943" y="1664779"/>
                  </a:cubicBezTo>
                  <a:cubicBezTo>
                    <a:pt x="11130" y="1644967"/>
                    <a:pt x="0" y="1618095"/>
                    <a:pt x="0" y="1590076"/>
                  </a:cubicBezTo>
                  <a:lnTo>
                    <a:pt x="0" y="105645"/>
                  </a:lnTo>
                  <a:cubicBezTo>
                    <a:pt x="0" y="47299"/>
                    <a:pt x="47299" y="0"/>
                    <a:pt x="1056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E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84333" cy="1752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41146" y="2557238"/>
            <a:ext cx="3737388" cy="6438444"/>
            <a:chOff x="0" y="0"/>
            <a:chExt cx="984333" cy="16957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4333" cy="1695722"/>
            </a:xfrm>
            <a:custGeom>
              <a:avLst/>
              <a:gdLst/>
              <a:ahLst/>
              <a:cxnLst/>
              <a:rect l="l" t="t" r="r" b="b"/>
              <a:pathLst>
                <a:path w="984333" h="1695722">
                  <a:moveTo>
                    <a:pt x="105645" y="0"/>
                  </a:moveTo>
                  <a:lnTo>
                    <a:pt x="878687" y="0"/>
                  </a:lnTo>
                  <a:cubicBezTo>
                    <a:pt x="937034" y="0"/>
                    <a:pt x="984333" y="47299"/>
                    <a:pt x="984333" y="105645"/>
                  </a:cubicBezTo>
                  <a:lnTo>
                    <a:pt x="984333" y="1590076"/>
                  </a:lnTo>
                  <a:cubicBezTo>
                    <a:pt x="984333" y="1618095"/>
                    <a:pt x="973202" y="1644967"/>
                    <a:pt x="953390" y="1664779"/>
                  </a:cubicBezTo>
                  <a:cubicBezTo>
                    <a:pt x="933578" y="1684591"/>
                    <a:pt x="906706" y="1695722"/>
                    <a:pt x="878687" y="1695722"/>
                  </a:cubicBezTo>
                  <a:lnTo>
                    <a:pt x="105645" y="1695722"/>
                  </a:lnTo>
                  <a:cubicBezTo>
                    <a:pt x="77627" y="1695722"/>
                    <a:pt x="50755" y="1684591"/>
                    <a:pt x="30943" y="1664779"/>
                  </a:cubicBezTo>
                  <a:cubicBezTo>
                    <a:pt x="11130" y="1644967"/>
                    <a:pt x="0" y="1618095"/>
                    <a:pt x="0" y="1590076"/>
                  </a:cubicBezTo>
                  <a:lnTo>
                    <a:pt x="0" y="105645"/>
                  </a:lnTo>
                  <a:cubicBezTo>
                    <a:pt x="0" y="47299"/>
                    <a:pt x="47299" y="0"/>
                    <a:pt x="1056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E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84333" cy="1752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72827" y="2557238"/>
            <a:ext cx="3737388" cy="6438444"/>
            <a:chOff x="0" y="0"/>
            <a:chExt cx="984333" cy="16957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4333" cy="1695722"/>
            </a:xfrm>
            <a:custGeom>
              <a:avLst/>
              <a:gdLst/>
              <a:ahLst/>
              <a:cxnLst/>
              <a:rect l="l" t="t" r="r" b="b"/>
              <a:pathLst>
                <a:path w="984333" h="1695722">
                  <a:moveTo>
                    <a:pt x="105645" y="0"/>
                  </a:moveTo>
                  <a:lnTo>
                    <a:pt x="878687" y="0"/>
                  </a:lnTo>
                  <a:cubicBezTo>
                    <a:pt x="937034" y="0"/>
                    <a:pt x="984333" y="47299"/>
                    <a:pt x="984333" y="105645"/>
                  </a:cubicBezTo>
                  <a:lnTo>
                    <a:pt x="984333" y="1590076"/>
                  </a:lnTo>
                  <a:cubicBezTo>
                    <a:pt x="984333" y="1618095"/>
                    <a:pt x="973202" y="1644967"/>
                    <a:pt x="953390" y="1664779"/>
                  </a:cubicBezTo>
                  <a:cubicBezTo>
                    <a:pt x="933578" y="1684591"/>
                    <a:pt x="906706" y="1695722"/>
                    <a:pt x="878687" y="1695722"/>
                  </a:cubicBezTo>
                  <a:lnTo>
                    <a:pt x="105645" y="1695722"/>
                  </a:lnTo>
                  <a:cubicBezTo>
                    <a:pt x="77627" y="1695722"/>
                    <a:pt x="50755" y="1684591"/>
                    <a:pt x="30943" y="1664779"/>
                  </a:cubicBezTo>
                  <a:cubicBezTo>
                    <a:pt x="11130" y="1644967"/>
                    <a:pt x="0" y="1618095"/>
                    <a:pt x="0" y="1590076"/>
                  </a:cubicBezTo>
                  <a:lnTo>
                    <a:pt x="0" y="105645"/>
                  </a:lnTo>
                  <a:cubicBezTo>
                    <a:pt x="0" y="47299"/>
                    <a:pt x="47299" y="0"/>
                    <a:pt x="10564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E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984333" cy="1752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0695" y="262391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46667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32376" y="262391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46667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5954" y="262391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46667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99532" y="2623913"/>
            <a:ext cx="3691568" cy="1387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3533CB">
                    <a:alpha val="46667"/>
                  </a:srgbClr>
                </a:solidFill>
                <a:latin typeface="Questrial"/>
                <a:ea typeface="Questrial"/>
                <a:cs typeface="Questrial"/>
                <a:sym typeface="Questrial"/>
              </a:rPr>
              <a:t>04.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0695" y="3592248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PESQUISA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32376" y="3592248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DESENVOLVIMENTO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5954" y="3592248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PRODUÇÃO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26141" y="4651620"/>
            <a:ext cx="3240676" cy="346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 projeto iniciou-se com uma pesquisa baseada no levantamento dos requisitos da empresa, analisando as necessidades tanto dos clientes quanto da gestão interna, definindo funcionalidades essenciais como controle de dados, estoque, pedidos, processos e um portal para clientes.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57822" y="4651620"/>
            <a:ext cx="3245150" cy="3354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7"/>
              </a:lnSpc>
            </a:pPr>
            <a:r>
              <a:rPr lang="en-US" sz="1774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O desenvolvimento foi realizado utilizando as tecnologias Java, JavaServer Pages (JSP), MySQL, Apache Tomcat e Visual Studio Code. A estrutura foi projetada para garantir segurança, desempenho e uma navegação intuitiva, contemplando um site institucional e um portal exclusivo para clientes, além dos módulos de gestão interna.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47987" y="1232781"/>
            <a:ext cx="10792026" cy="88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4"/>
              </a:lnSpc>
            </a:pPr>
            <a:r>
              <a:rPr lang="en-US" sz="5800" spc="574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ETAPAS DO PROJETO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99532" y="3592248"/>
            <a:ext cx="369156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ENTREGA FINAL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89502" y="4651620"/>
            <a:ext cx="3240676" cy="2206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Na fase de produção, foram realizados testes de usabilidade, funcionalidade e segurança, assegurando o pleno funcionamento do sistema e a eficiência dos processos.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21183" y="4651620"/>
            <a:ext cx="3240676" cy="3464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Por fim, na entrega final, o sistema foi implantado e disponibilizado, oferecendo à empresa total controle sobre dados, pedidos e processos, além de proporcionar aos clientes uma plataforma prática e segura para acesso a informações, produtos e serviços.</a:t>
            </a:r>
          </a:p>
        </p:txBody>
      </p:sp>
      <p:sp>
        <p:nvSpPr>
          <p:cNvPr id="27" name="AutoShape 27"/>
          <p:cNvSpPr/>
          <p:nvPr/>
        </p:nvSpPr>
        <p:spPr>
          <a:xfrm>
            <a:off x="1692136" y="4292993"/>
            <a:ext cx="250868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5823817" y="4292993"/>
            <a:ext cx="250868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9955498" y="4292993"/>
            <a:ext cx="250868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4087178" y="4292993"/>
            <a:ext cx="250868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981773">
            <a:off x="-3241097" y="-3529578"/>
            <a:ext cx="10461728" cy="10836065"/>
          </a:xfrm>
          <a:custGeom>
            <a:avLst/>
            <a:gdLst/>
            <a:ahLst/>
            <a:cxnLst/>
            <a:rect l="l" t="t" r="r" b="b"/>
            <a:pathLst>
              <a:path w="10461728" h="10836065">
                <a:moveTo>
                  <a:pt x="0" y="0"/>
                </a:moveTo>
                <a:lnTo>
                  <a:pt x="10461728" y="0"/>
                </a:lnTo>
                <a:lnTo>
                  <a:pt x="10461728" y="10836065"/>
                </a:lnTo>
                <a:lnTo>
                  <a:pt x="0" y="10836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24719" y="4969637"/>
            <a:ext cx="7051293" cy="387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94F56"/>
                </a:solidFill>
                <a:latin typeface="Questrial"/>
                <a:ea typeface="Questrial"/>
                <a:cs typeface="Questrial"/>
                <a:sym typeface="Questrial"/>
              </a:rPr>
              <a:t>Durante os meses de fevereiro a junho deste ano, foram realizadas as fases de produção e entrega do sistema. Na produção, foram executados testes rigorosos para garantir a funcionalidade, segurança, desempenho e usabilidade da plataforma, além de ajustes e correções essenciais para o aprimoramento do sistema. A etapa de entrega envolveu a implantação completa do sistema, com o fornecimento de orientações e treinamentos básicos para os usuários responsáveis. Essa fase final assegurou a disponibilização de uma plataforma eficiente, segura e intuitiva, pronta para atender às necessidades da empresa e seus clientes.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60713" y="1486530"/>
            <a:ext cx="7383621" cy="7106800"/>
            <a:chOff x="30480" y="591820"/>
            <a:chExt cx="12736830" cy="122593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36830" cy="12259310"/>
            </a:xfrm>
            <a:custGeom>
              <a:avLst/>
              <a:gdLst/>
              <a:ahLst/>
              <a:cxnLst/>
              <a:rect l="l" t="t" r="r" b="b"/>
              <a:pathLst>
                <a:path w="12736830" h="12259310">
                  <a:moveTo>
                    <a:pt x="11925300" y="4271010"/>
                  </a:moveTo>
                  <a:cubicBezTo>
                    <a:pt x="10819130" y="2120900"/>
                    <a:pt x="8590280" y="544830"/>
                    <a:pt x="6215380" y="297180"/>
                  </a:cubicBezTo>
                  <a:cubicBezTo>
                    <a:pt x="4277360" y="0"/>
                    <a:pt x="3002280" y="913130"/>
                    <a:pt x="1960880" y="2170430"/>
                  </a:cubicBezTo>
                  <a:cubicBezTo>
                    <a:pt x="919480" y="3427730"/>
                    <a:pt x="365760" y="5030470"/>
                    <a:pt x="142240" y="6647180"/>
                  </a:cubicBezTo>
                  <a:cubicBezTo>
                    <a:pt x="24130" y="7500620"/>
                    <a:pt x="0" y="8406130"/>
                    <a:pt x="361950" y="9188450"/>
                  </a:cubicBezTo>
                  <a:cubicBezTo>
                    <a:pt x="820420" y="10180320"/>
                    <a:pt x="1822450" y="10811510"/>
                    <a:pt x="2842260" y="11203940"/>
                  </a:cubicBezTo>
                  <a:cubicBezTo>
                    <a:pt x="5585460" y="12259310"/>
                    <a:pt x="8953501" y="11850370"/>
                    <a:pt x="11088370" y="9828530"/>
                  </a:cubicBezTo>
                  <a:cubicBezTo>
                    <a:pt x="11756390" y="9196070"/>
                    <a:pt x="12303760" y="8403590"/>
                    <a:pt x="12499340" y="7504430"/>
                  </a:cubicBezTo>
                  <a:cubicBezTo>
                    <a:pt x="12736830" y="6413500"/>
                    <a:pt x="12435840" y="5264150"/>
                    <a:pt x="11925300" y="4271010"/>
                  </a:cubicBezTo>
                  <a:close/>
                </a:path>
              </a:pathLst>
            </a:custGeom>
            <a:blipFill>
              <a:blip r:embed="rId4"/>
              <a:stretch>
                <a:fillRect l="-18978" r="-1897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424719" y="2391416"/>
            <a:ext cx="7719281" cy="1565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6"/>
              </a:lnSpc>
            </a:pPr>
            <a:r>
              <a:rPr lang="en-US" sz="5200" spc="51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PRODUÇÃO</a:t>
            </a:r>
          </a:p>
          <a:p>
            <a:pPr algn="l">
              <a:lnSpc>
                <a:spcPts val="6136"/>
              </a:lnSpc>
            </a:pPr>
            <a:r>
              <a:rPr lang="en-US" sz="5200" spc="514">
                <a:solidFill>
                  <a:srgbClr val="3533CB"/>
                </a:solidFill>
                <a:latin typeface="Questrial"/>
                <a:ea typeface="Questrial"/>
                <a:cs typeface="Questrial"/>
                <a:sym typeface="Questrial"/>
              </a:rPr>
              <a:t>E ENTREGA</a:t>
            </a:r>
          </a:p>
        </p:txBody>
      </p:sp>
      <p:sp>
        <p:nvSpPr>
          <p:cNvPr id="7" name="AutoShape 7"/>
          <p:cNvSpPr/>
          <p:nvPr/>
        </p:nvSpPr>
        <p:spPr>
          <a:xfrm>
            <a:off x="1424719" y="4360238"/>
            <a:ext cx="3716901" cy="0"/>
          </a:xfrm>
          <a:prstGeom prst="line">
            <a:avLst/>
          </a:prstGeom>
          <a:ln w="38100" cap="flat">
            <a:solidFill>
              <a:srgbClr val="3533C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10710603" flipV="1">
            <a:off x="14388518" y="5907602"/>
            <a:ext cx="2822626" cy="3740830"/>
          </a:xfrm>
          <a:custGeom>
            <a:avLst/>
            <a:gdLst/>
            <a:ahLst/>
            <a:cxnLst/>
            <a:rect l="l" t="t" r="r" b="b"/>
            <a:pathLst>
              <a:path w="2822626" h="3740830">
                <a:moveTo>
                  <a:pt x="0" y="3740830"/>
                </a:moveTo>
                <a:lnTo>
                  <a:pt x="2822626" y="3740830"/>
                </a:lnTo>
                <a:lnTo>
                  <a:pt x="2822626" y="0"/>
                </a:lnTo>
                <a:lnTo>
                  <a:pt x="0" y="0"/>
                </a:lnTo>
                <a:lnTo>
                  <a:pt x="0" y="374083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659014" flipV="1">
            <a:off x="9335210" y="473396"/>
            <a:ext cx="2908839" cy="3855088"/>
          </a:xfrm>
          <a:custGeom>
            <a:avLst/>
            <a:gdLst/>
            <a:ahLst/>
            <a:cxnLst/>
            <a:rect l="l" t="t" r="r" b="b"/>
            <a:pathLst>
              <a:path w="2908839" h="3855088">
                <a:moveTo>
                  <a:pt x="0" y="3855089"/>
                </a:moveTo>
                <a:lnTo>
                  <a:pt x="2908840" y="3855089"/>
                </a:lnTo>
                <a:lnTo>
                  <a:pt x="2908840" y="0"/>
                </a:lnTo>
                <a:lnTo>
                  <a:pt x="0" y="0"/>
                </a:lnTo>
                <a:lnTo>
                  <a:pt x="0" y="385508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710603" flipV="1">
            <a:off x="14740120" y="4861260"/>
            <a:ext cx="5038360" cy="6677344"/>
          </a:xfrm>
          <a:custGeom>
            <a:avLst/>
            <a:gdLst/>
            <a:ahLst/>
            <a:cxnLst/>
            <a:rect l="l" t="t" r="r" b="b"/>
            <a:pathLst>
              <a:path w="5038360" h="6677344">
                <a:moveTo>
                  <a:pt x="0" y="6677344"/>
                </a:moveTo>
                <a:lnTo>
                  <a:pt x="5038360" y="6677344"/>
                </a:lnTo>
                <a:lnTo>
                  <a:pt x="5038360" y="0"/>
                </a:lnTo>
                <a:lnTo>
                  <a:pt x="0" y="0"/>
                </a:lnTo>
                <a:lnTo>
                  <a:pt x="0" y="66773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76409" flipV="1">
            <a:off x="-1536547" y="-2586118"/>
            <a:ext cx="5130494" cy="6799449"/>
          </a:xfrm>
          <a:custGeom>
            <a:avLst/>
            <a:gdLst/>
            <a:ahLst/>
            <a:cxnLst/>
            <a:rect l="l" t="t" r="r" b="b"/>
            <a:pathLst>
              <a:path w="5130494" h="6799449">
                <a:moveTo>
                  <a:pt x="0" y="6799449"/>
                </a:moveTo>
                <a:lnTo>
                  <a:pt x="5130494" y="6799449"/>
                </a:lnTo>
                <a:lnTo>
                  <a:pt x="5130494" y="0"/>
                </a:lnTo>
                <a:lnTo>
                  <a:pt x="0" y="0"/>
                </a:lnTo>
                <a:lnTo>
                  <a:pt x="0" y="67994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466364" y="3515481"/>
            <a:ext cx="13355271" cy="299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spc="495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PIXELTECH SEGURO EM CADA PIXEL, PROTEGENDO SUA CASA, PROTEGENDO SUA VIDA.</a:t>
            </a:r>
          </a:p>
          <a:p>
            <a:pPr algn="l">
              <a:lnSpc>
                <a:spcPts val="5900"/>
              </a:lnSpc>
            </a:pPr>
            <a:endParaRPr lang="en-US" sz="5000" spc="495">
              <a:solidFill>
                <a:srgbClr val="FFFFFF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779009" y="7768133"/>
            <a:ext cx="960397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PixelTech.Co: Segurança Inteligente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68831" y="1377535"/>
            <a:ext cx="3003751" cy="490577"/>
            <a:chOff x="0" y="0"/>
            <a:chExt cx="4005001" cy="6541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6555" cy="654102"/>
            </a:xfrm>
            <a:custGeom>
              <a:avLst/>
              <a:gdLst/>
              <a:ahLst/>
              <a:cxnLst/>
              <a:rect l="l" t="t" r="r" b="b"/>
              <a:pathLst>
                <a:path w="996555" h="654102">
                  <a:moveTo>
                    <a:pt x="0" y="0"/>
                  </a:moveTo>
                  <a:lnTo>
                    <a:pt x="996555" y="0"/>
                  </a:lnTo>
                  <a:lnTo>
                    <a:pt x="996555" y="654102"/>
                  </a:lnTo>
                  <a:lnTo>
                    <a:pt x="0" y="65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AutoShape 8"/>
            <p:cNvSpPr/>
            <p:nvPr/>
          </p:nvSpPr>
          <p:spPr>
            <a:xfrm>
              <a:off x="1213571" y="327051"/>
              <a:ext cx="279143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13152286" y="8199932"/>
            <a:ext cx="3003751" cy="490577"/>
            <a:chOff x="0" y="0"/>
            <a:chExt cx="4005001" cy="6541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6555" cy="654102"/>
            </a:xfrm>
            <a:custGeom>
              <a:avLst/>
              <a:gdLst/>
              <a:ahLst/>
              <a:cxnLst/>
              <a:rect l="l" t="t" r="r" b="b"/>
              <a:pathLst>
                <a:path w="996555" h="654102">
                  <a:moveTo>
                    <a:pt x="0" y="0"/>
                  </a:moveTo>
                  <a:lnTo>
                    <a:pt x="996555" y="0"/>
                  </a:lnTo>
                  <a:lnTo>
                    <a:pt x="996555" y="654102"/>
                  </a:lnTo>
                  <a:lnTo>
                    <a:pt x="0" y="654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AutoShape 11"/>
            <p:cNvSpPr/>
            <p:nvPr/>
          </p:nvSpPr>
          <p:spPr>
            <a:xfrm>
              <a:off x="1213571" y="327051"/>
              <a:ext cx="2791431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48217" y="9007805"/>
            <a:ext cx="500990" cy="50099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220200" y="8985909"/>
            <a:ext cx="500990" cy="50099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E"/>
            </a:solidFill>
          </p:spPr>
        </p:sp>
      </p:grpSp>
      <p:sp>
        <p:nvSpPr>
          <p:cNvPr id="6" name="Freeform 6"/>
          <p:cNvSpPr/>
          <p:nvPr/>
        </p:nvSpPr>
        <p:spPr>
          <a:xfrm rot="10710603" flipV="1">
            <a:off x="14756081" y="3836836"/>
            <a:ext cx="5828056" cy="7723930"/>
          </a:xfrm>
          <a:custGeom>
            <a:avLst/>
            <a:gdLst/>
            <a:ahLst/>
            <a:cxnLst/>
            <a:rect l="l" t="t" r="r" b="b"/>
            <a:pathLst>
              <a:path w="5828056" h="7723930">
                <a:moveTo>
                  <a:pt x="0" y="7723930"/>
                </a:moveTo>
                <a:lnTo>
                  <a:pt x="5828056" y="7723930"/>
                </a:lnTo>
                <a:lnTo>
                  <a:pt x="5828056" y="0"/>
                </a:lnTo>
                <a:lnTo>
                  <a:pt x="0" y="0"/>
                </a:lnTo>
                <a:lnTo>
                  <a:pt x="0" y="77239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659014" flipV="1">
            <a:off x="-2098936" y="-2598079"/>
            <a:ext cx="5130494" cy="6799449"/>
          </a:xfrm>
          <a:custGeom>
            <a:avLst/>
            <a:gdLst/>
            <a:ahLst/>
            <a:cxnLst/>
            <a:rect l="l" t="t" r="r" b="b"/>
            <a:pathLst>
              <a:path w="5130494" h="6799449">
                <a:moveTo>
                  <a:pt x="0" y="6799450"/>
                </a:moveTo>
                <a:lnTo>
                  <a:pt x="5130494" y="6799450"/>
                </a:lnTo>
                <a:lnTo>
                  <a:pt x="5130494" y="0"/>
                </a:lnTo>
                <a:lnTo>
                  <a:pt x="0" y="0"/>
                </a:lnTo>
                <a:lnTo>
                  <a:pt x="0" y="67994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7285549" y="5124450"/>
            <a:ext cx="371690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9373538" y="9158678"/>
            <a:ext cx="194314" cy="155452"/>
          </a:xfrm>
          <a:custGeom>
            <a:avLst/>
            <a:gdLst/>
            <a:ahLst/>
            <a:cxnLst/>
            <a:rect l="l" t="t" r="r" b="b"/>
            <a:pathLst>
              <a:path w="194314" h="155452">
                <a:moveTo>
                  <a:pt x="0" y="0"/>
                </a:moveTo>
                <a:lnTo>
                  <a:pt x="194314" y="0"/>
                </a:lnTo>
                <a:lnTo>
                  <a:pt x="194314" y="155452"/>
                </a:lnTo>
                <a:lnTo>
                  <a:pt x="0" y="155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299091" y="9158678"/>
            <a:ext cx="199243" cy="199243"/>
          </a:xfrm>
          <a:custGeom>
            <a:avLst/>
            <a:gdLst/>
            <a:ahLst/>
            <a:cxnLst/>
            <a:rect l="l" t="t" r="r" b="b"/>
            <a:pathLst>
              <a:path w="199243" h="199243">
                <a:moveTo>
                  <a:pt x="0" y="0"/>
                </a:moveTo>
                <a:lnTo>
                  <a:pt x="199243" y="0"/>
                </a:lnTo>
                <a:lnTo>
                  <a:pt x="199243" y="199244"/>
                </a:lnTo>
                <a:lnTo>
                  <a:pt x="0" y="1992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613383" y="2256129"/>
            <a:ext cx="9061234" cy="237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9999" spc="989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MUITO OBRIGADO!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1788" y="9105901"/>
            <a:ext cx="2380312" cy="26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E"/>
                </a:solidFill>
                <a:latin typeface="Questrial"/>
                <a:ea typeface="Questrial"/>
                <a:cs typeface="Questrial"/>
                <a:sym typeface="Questrial"/>
              </a:rPr>
              <a:t>(12) 3456 7890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73771" y="9084005"/>
            <a:ext cx="2380312" cy="26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E"/>
                </a:solidFill>
                <a:latin typeface="Questrial"/>
                <a:ea typeface="Questrial"/>
                <a:cs typeface="Questrial"/>
                <a:sym typeface="Questrial"/>
              </a:rPr>
              <a:t>ola@grandesite.com.br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231">
                <a:alpha val="100000"/>
              </a:srgbClr>
            </a:gs>
            <a:gs pos="100000">
              <a:srgbClr val="0021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62615" y="3499784"/>
            <a:ext cx="10762770" cy="333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70"/>
              </a:lnSpc>
            </a:pPr>
            <a:r>
              <a:rPr lang="en-US" sz="9621">
                <a:solidFill>
                  <a:srgbClr val="FFFFFF"/>
                </a:solidFill>
                <a:latin typeface="Balgin"/>
                <a:ea typeface="Balgin"/>
                <a:cs typeface="Balgin"/>
                <a:sym typeface="Balgin"/>
              </a:rPr>
              <a:t>PixelTech.Co</a:t>
            </a:r>
          </a:p>
          <a:p>
            <a:pPr algn="ctr">
              <a:lnSpc>
                <a:spcPts val="13470"/>
              </a:lnSpc>
            </a:pPr>
            <a:endParaRPr lang="en-US" sz="9621">
              <a:solidFill>
                <a:srgbClr val="FFFFFF"/>
              </a:solidFill>
              <a:latin typeface="Balgin"/>
              <a:ea typeface="Balgin"/>
              <a:cs typeface="Balgin"/>
              <a:sym typeface="Balgi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258497" y="4819512"/>
            <a:ext cx="1318166" cy="590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56"/>
              </a:lnSpc>
            </a:pPr>
            <a:r>
              <a:rPr lang="en-US" sz="3181">
                <a:solidFill>
                  <a:srgbClr val="FFFFFF"/>
                </a:solidFill>
                <a:latin typeface="Moontime"/>
                <a:ea typeface="Moontime"/>
                <a:cs typeface="Moontime"/>
                <a:sym typeface="Moontime"/>
              </a:rPr>
              <a:t>joalheria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381687" y="5094430"/>
            <a:ext cx="5876810" cy="49070"/>
            <a:chOff x="0" y="0"/>
            <a:chExt cx="5265426" cy="439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65420" cy="43965"/>
            </a:xfrm>
            <a:custGeom>
              <a:avLst/>
              <a:gdLst/>
              <a:ahLst/>
              <a:cxnLst/>
              <a:rect l="l" t="t" r="r" b="b"/>
              <a:pathLst>
                <a:path w="5265420" h="43965">
                  <a:moveTo>
                    <a:pt x="13716" y="0"/>
                  </a:moveTo>
                  <a:lnTo>
                    <a:pt x="5251704" y="0"/>
                  </a:lnTo>
                  <a:cubicBezTo>
                    <a:pt x="5259324" y="0"/>
                    <a:pt x="5265420" y="9770"/>
                    <a:pt x="5265420" y="21983"/>
                  </a:cubicBezTo>
                  <a:cubicBezTo>
                    <a:pt x="5265420" y="34195"/>
                    <a:pt x="5259324" y="43965"/>
                    <a:pt x="5251704" y="43965"/>
                  </a:cubicBezTo>
                  <a:lnTo>
                    <a:pt x="13716" y="43965"/>
                  </a:lnTo>
                  <a:cubicBezTo>
                    <a:pt x="6096" y="43965"/>
                    <a:pt x="0" y="34195"/>
                    <a:pt x="0" y="21983"/>
                  </a:cubicBezTo>
                  <a:cubicBezTo>
                    <a:pt x="0" y="9770"/>
                    <a:pt x="6096" y="0"/>
                    <a:pt x="137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1222</Words>
  <Application>Microsoft Office PowerPoint</Application>
  <PresentationFormat>Personalizar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Balgin</vt:lpstr>
      <vt:lpstr>Moontime</vt:lpstr>
      <vt:lpstr>Calibri</vt:lpstr>
      <vt:lpstr>Open Sans</vt:lpstr>
      <vt:lpstr>Questrial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Institucional Grátis 16:9 colorido</dc:title>
  <dc:creator>lucks dezoito</dc:creator>
  <cp:lastModifiedBy>lucks dezoito</cp:lastModifiedBy>
  <cp:revision>1</cp:revision>
  <dcterms:created xsi:type="dcterms:W3CDTF">2006-08-16T00:00:00Z</dcterms:created>
  <dcterms:modified xsi:type="dcterms:W3CDTF">2025-06-03T16:33:43Z</dcterms:modified>
  <dc:identifier>DAGpBqVzvOs</dc:identifier>
</cp:coreProperties>
</file>